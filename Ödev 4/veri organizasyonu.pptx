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65798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5835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11129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380514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69243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5474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44554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27060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7831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şlık ve Resim Yazıs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19077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im Yazılı Alın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8124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94909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ıntı 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981478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ğru veya Yanlı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544046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43886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75050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FEA23D-E6D3-45C7-9F1A-F335184C7BE6}" type="datetimeFigureOut">
              <a:rPr lang="tr-TR" smtClean="0"/>
              <a:t>19.05.2026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6AEDAF3C-F9A8-46FE-84E7-91D3E078BC1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4936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 smtClean="0"/>
              <a:t>B ve B+ AĞAÇLARI</a:t>
            </a:r>
            <a:endParaRPr lang="tr-TR" dirty="0"/>
          </a:p>
        </p:txBody>
      </p:sp>
      <p:sp>
        <p:nvSpPr>
          <p:cNvPr id="3" name="Alt Başlık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tr-TR" dirty="0" smtClean="0"/>
              <a:t>Veri Organizasyonu Ödev-4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868194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GÜNÜMÜZDE KULLANIM ALANLARI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B ve B+ ağaçları, özellikle </a:t>
            </a:r>
            <a:r>
              <a:rPr lang="tr-TR" b="1" dirty="0"/>
              <a:t>büyük miktarda verinin diskte saklandığı ve hızlı erişim gerektirdiği</a:t>
            </a:r>
            <a:r>
              <a:rPr lang="tr-TR" dirty="0"/>
              <a:t> sistemlerin arka planında sessizce çalışan kahramanlardır</a:t>
            </a:r>
            <a:r>
              <a:rPr lang="tr-TR" dirty="0" smtClean="0"/>
              <a:t>.</a:t>
            </a:r>
          </a:p>
          <a:p>
            <a:r>
              <a:rPr lang="tr-TR" dirty="0"/>
              <a:t>Örnek olarak</a:t>
            </a:r>
            <a:r>
              <a:rPr lang="tr-TR" dirty="0" smtClean="0"/>
              <a:t>: Bilgisayarınızda </a:t>
            </a:r>
            <a:r>
              <a:rPr lang="tr-TR" dirty="0"/>
              <a:t>bir dosya aradığınızda, bir web sitesine giriş yaparken bilgileriniz veri tabanından çekildiğinde veya banka hesabınızdaki geçmiş işlemleri listelediğinizde arka planda mutlaka bir B veya B+ </a:t>
            </a:r>
            <a:r>
              <a:rPr lang="tr-TR" dirty="0" err="1"/>
              <a:t>Tree</a:t>
            </a:r>
            <a:r>
              <a:rPr lang="tr-TR" dirty="0"/>
              <a:t> yapısı çalışıyordur.</a:t>
            </a:r>
          </a:p>
        </p:txBody>
      </p:sp>
    </p:spTree>
    <p:extLst>
      <p:ext uri="{BB962C8B-B14F-4D97-AF65-F5344CB8AC3E}">
        <p14:creationId xmlns:p14="http://schemas.microsoft.com/office/powerpoint/2010/main" val="1938914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Veri Tabanlarında Kullanımı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Geleneksel ilişkisel veri tabanları (RDBMS) ve bazı modern </a:t>
            </a:r>
            <a:r>
              <a:rPr lang="tr-TR" dirty="0" err="1"/>
              <a:t>NoSQL</a:t>
            </a:r>
            <a:r>
              <a:rPr lang="tr-TR" dirty="0"/>
              <a:t> sistemleri, indeksleme (</a:t>
            </a:r>
            <a:r>
              <a:rPr lang="tr-TR" dirty="0" err="1"/>
              <a:t>indexing</a:t>
            </a:r>
            <a:r>
              <a:rPr lang="tr-TR" dirty="0"/>
              <a:t>) mekanizmalarının merkezine </a:t>
            </a:r>
            <a:r>
              <a:rPr lang="tr-TR" b="1" dirty="0"/>
              <a:t>B+ </a:t>
            </a:r>
            <a:r>
              <a:rPr lang="tr-TR" b="1" dirty="0" err="1"/>
              <a:t>Tree</a:t>
            </a:r>
            <a:r>
              <a:rPr lang="tr-TR" dirty="0"/>
              <a:t> yapısını koyar</a:t>
            </a:r>
            <a:r>
              <a:rPr lang="tr-TR" dirty="0" smtClean="0"/>
              <a:t>.</a:t>
            </a:r>
          </a:p>
          <a:p>
            <a:r>
              <a:rPr lang="tr-TR" b="1" dirty="0" err="1"/>
              <a:t>MySQL</a:t>
            </a:r>
            <a:r>
              <a:rPr lang="tr-TR" b="1" dirty="0"/>
              <a:t> (</a:t>
            </a:r>
            <a:r>
              <a:rPr lang="tr-TR" b="1" dirty="0" err="1"/>
              <a:t>InnoDB</a:t>
            </a:r>
            <a:r>
              <a:rPr lang="tr-TR" b="1" dirty="0"/>
              <a:t>):</a:t>
            </a:r>
            <a:r>
              <a:rPr lang="tr-TR" dirty="0"/>
              <a:t> </a:t>
            </a:r>
            <a:r>
              <a:rPr lang="tr-TR" dirty="0" err="1"/>
              <a:t>MySQL'in</a:t>
            </a:r>
            <a:r>
              <a:rPr lang="tr-TR" dirty="0"/>
              <a:t> varsayılan depolama motoru olan </a:t>
            </a:r>
            <a:r>
              <a:rPr lang="tr-TR" dirty="0" err="1"/>
              <a:t>InnoDB</a:t>
            </a:r>
            <a:r>
              <a:rPr lang="tr-TR" dirty="0"/>
              <a:t>, tabloların kendisini ve birincil anahtarlarını (</a:t>
            </a:r>
            <a:r>
              <a:rPr lang="tr-TR" dirty="0" err="1"/>
              <a:t>Primary</a:t>
            </a:r>
            <a:r>
              <a:rPr lang="tr-TR" dirty="0"/>
              <a:t> </a:t>
            </a:r>
            <a:r>
              <a:rPr lang="tr-TR" dirty="0" err="1"/>
              <a:t>Key</a:t>
            </a:r>
            <a:r>
              <a:rPr lang="tr-TR" dirty="0"/>
              <a:t>) birer B+ </a:t>
            </a:r>
            <a:r>
              <a:rPr lang="tr-TR" dirty="0" err="1"/>
              <a:t>Tree</a:t>
            </a:r>
            <a:r>
              <a:rPr lang="tr-TR" dirty="0"/>
              <a:t> yapısı olarak organize eder (</a:t>
            </a:r>
            <a:r>
              <a:rPr lang="tr-TR" dirty="0" err="1"/>
              <a:t>Clustered</a:t>
            </a:r>
            <a:r>
              <a:rPr lang="tr-TR" dirty="0"/>
              <a:t> Index). Veriler ağacın en altındaki yaprak düğümlerde sıralı olarak saklanır</a:t>
            </a:r>
            <a:r>
              <a:rPr lang="tr-TR" dirty="0" smtClean="0"/>
              <a:t>.</a:t>
            </a:r>
          </a:p>
          <a:p>
            <a:r>
              <a:rPr lang="tr-TR" b="1" dirty="0" err="1"/>
              <a:t>MongoDB</a:t>
            </a:r>
            <a:r>
              <a:rPr lang="tr-TR" b="1" dirty="0"/>
              <a:t>:</a:t>
            </a:r>
            <a:r>
              <a:rPr lang="tr-TR" dirty="0"/>
              <a:t> Doküman tabanlı bir </a:t>
            </a:r>
            <a:r>
              <a:rPr lang="tr-TR" dirty="0" err="1"/>
              <a:t>NoSQL</a:t>
            </a:r>
            <a:r>
              <a:rPr lang="tr-TR" dirty="0"/>
              <a:t> veri tabanı olmasına rağmen </a:t>
            </a:r>
            <a:r>
              <a:rPr lang="tr-TR" dirty="0" err="1"/>
              <a:t>MongoDB</a:t>
            </a:r>
            <a:r>
              <a:rPr lang="tr-TR" dirty="0"/>
              <a:t> de indeksleme için B-</a:t>
            </a:r>
            <a:r>
              <a:rPr lang="tr-TR" dirty="0" err="1"/>
              <a:t>Tree</a:t>
            </a:r>
            <a:r>
              <a:rPr lang="tr-TR" dirty="0"/>
              <a:t> türevi bir yapı kullanır. Bu sayede milyonlarca doküman arasından belirli bir kritere uyan veriyi milisaniyeler içinde bulabilir.</a:t>
            </a:r>
          </a:p>
        </p:txBody>
      </p:sp>
    </p:spTree>
    <p:extLst>
      <p:ext uri="{BB962C8B-B14F-4D97-AF65-F5344CB8AC3E}">
        <p14:creationId xmlns:p14="http://schemas.microsoft.com/office/powerpoint/2010/main" val="423372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Dosya Sistemlerinde Kullanımı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 smtClean="0"/>
              <a:t>İşletim </a:t>
            </a:r>
            <a:r>
              <a:rPr lang="tr-TR" dirty="0"/>
              <a:t>sistemleri, disk üzerindeki dosyaların konumunu kaydetmek ve klasör yapılarını yönetmek için bu ağaçlardan yararlanır</a:t>
            </a:r>
            <a:r>
              <a:rPr lang="tr-TR" dirty="0" smtClean="0"/>
              <a:t>.</a:t>
            </a:r>
          </a:p>
          <a:p>
            <a:r>
              <a:rPr lang="tr-TR" b="1" dirty="0"/>
              <a:t>NTFS (Windows):</a:t>
            </a:r>
            <a:r>
              <a:rPr lang="tr-TR" dirty="0"/>
              <a:t> Klasör dizinlerini yönetmek için B-</a:t>
            </a:r>
            <a:r>
              <a:rPr lang="tr-TR" dirty="0" err="1"/>
              <a:t>Tree</a:t>
            </a:r>
            <a:r>
              <a:rPr lang="tr-TR" dirty="0"/>
              <a:t> yapısını kullanır. Bir klasörde binlerce dosya olsa bile aradığınız dosyaya anında ulaşmanız bu sayededir</a:t>
            </a:r>
            <a:r>
              <a:rPr lang="tr-TR" dirty="0" smtClean="0"/>
              <a:t>.</a:t>
            </a:r>
          </a:p>
          <a:p>
            <a:r>
              <a:rPr lang="tr-TR" b="1" dirty="0"/>
              <a:t>ext4 (Linux):</a:t>
            </a:r>
            <a:r>
              <a:rPr lang="tr-TR" dirty="0"/>
              <a:t> Büyük dizinleri hızlıca taramak için "</a:t>
            </a:r>
            <a:r>
              <a:rPr lang="tr-TR" dirty="0" err="1"/>
              <a:t>Htree</a:t>
            </a:r>
            <a:r>
              <a:rPr lang="tr-TR" dirty="0"/>
              <a:t>" adı verilen, B-</a:t>
            </a:r>
            <a:r>
              <a:rPr lang="tr-TR" dirty="0" err="1"/>
              <a:t>Tree</a:t>
            </a:r>
            <a:r>
              <a:rPr lang="tr-TR" dirty="0"/>
              <a:t> tabanlı özel bir indeksleme yapısı kullanır</a:t>
            </a:r>
            <a:r>
              <a:rPr lang="tr-TR" dirty="0" smtClean="0"/>
              <a:t>.</a:t>
            </a:r>
          </a:p>
          <a:p>
            <a:r>
              <a:rPr lang="tr-TR" b="1" dirty="0"/>
              <a:t>APFS (Apple):</a:t>
            </a:r>
            <a:r>
              <a:rPr lang="tr-TR" dirty="0"/>
              <a:t> </a:t>
            </a:r>
            <a:r>
              <a:rPr lang="tr-TR" dirty="0" err="1"/>
              <a:t>macOS</a:t>
            </a:r>
            <a:r>
              <a:rPr lang="tr-TR" dirty="0"/>
              <a:t> ve </a:t>
            </a:r>
            <a:r>
              <a:rPr lang="tr-TR" dirty="0" err="1"/>
              <a:t>iOS'ta</a:t>
            </a:r>
            <a:r>
              <a:rPr lang="tr-TR" dirty="0"/>
              <a:t> kullanılan modern dosya sistemi, dinamik disk alanı yönetimi ve hızlı dosya erişimi için B+ </a:t>
            </a:r>
            <a:r>
              <a:rPr lang="tr-TR" dirty="0" err="1"/>
              <a:t>Tree</a:t>
            </a:r>
            <a:r>
              <a:rPr lang="tr-TR" dirty="0"/>
              <a:t> türevlerini temel alır.</a:t>
            </a:r>
          </a:p>
        </p:txBody>
      </p:sp>
    </p:spTree>
    <p:extLst>
      <p:ext uri="{BB962C8B-B14F-4D97-AF65-F5344CB8AC3E}">
        <p14:creationId xmlns:p14="http://schemas.microsoft.com/office/powerpoint/2010/main" val="1270739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Arama Motorları ve Büyük Veri Sistemleri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Arama motorlarının arkasındaki devasa ters çevrilmiş indeksler (</a:t>
            </a:r>
            <a:r>
              <a:rPr lang="tr-TR" dirty="0" err="1"/>
              <a:t>Inverted</a:t>
            </a:r>
            <a:r>
              <a:rPr lang="tr-TR" dirty="0"/>
              <a:t> Index) ve </a:t>
            </a:r>
            <a:r>
              <a:rPr lang="tr-TR" b="1" dirty="0" err="1"/>
              <a:t>Apache</a:t>
            </a:r>
            <a:r>
              <a:rPr lang="tr-TR" b="1" dirty="0"/>
              <a:t> </a:t>
            </a:r>
            <a:r>
              <a:rPr lang="tr-TR" b="1" dirty="0" err="1"/>
              <a:t>HBase</a:t>
            </a:r>
            <a:r>
              <a:rPr lang="tr-TR" dirty="0"/>
              <a:t> veya </a:t>
            </a:r>
            <a:r>
              <a:rPr lang="tr-TR" b="1" dirty="0" err="1"/>
              <a:t>Cassandra</a:t>
            </a:r>
            <a:r>
              <a:rPr lang="tr-TR" dirty="0"/>
              <a:t> gibi büyük veri sistemleri, verileri diske sıralı yazmak ve hızlıca okumak için B-</a:t>
            </a:r>
            <a:r>
              <a:rPr lang="tr-TR" dirty="0" err="1"/>
              <a:t>Tree</a:t>
            </a:r>
            <a:r>
              <a:rPr lang="tr-TR" dirty="0"/>
              <a:t> mantığından türeyen </a:t>
            </a:r>
            <a:r>
              <a:rPr lang="tr-TR" b="1" dirty="0"/>
              <a:t>LSM-</a:t>
            </a:r>
            <a:r>
              <a:rPr lang="tr-TR" b="1" dirty="0" err="1"/>
              <a:t>Tree</a:t>
            </a:r>
            <a:r>
              <a:rPr lang="tr-TR" b="1" dirty="0"/>
              <a:t> (</a:t>
            </a:r>
            <a:r>
              <a:rPr lang="tr-TR" b="1" dirty="0" err="1"/>
              <a:t>Log-Structured</a:t>
            </a:r>
            <a:r>
              <a:rPr lang="tr-TR" b="1" dirty="0"/>
              <a:t> </a:t>
            </a:r>
            <a:r>
              <a:rPr lang="tr-TR" b="1" dirty="0" err="1"/>
              <a:t>Merge-Tree</a:t>
            </a:r>
            <a:r>
              <a:rPr lang="tr-TR" b="1" dirty="0"/>
              <a:t>)</a:t>
            </a:r>
            <a:r>
              <a:rPr lang="tr-TR" dirty="0"/>
              <a:t> yapılarını veya doğrudan B+ </a:t>
            </a:r>
            <a:r>
              <a:rPr lang="tr-TR" dirty="0" err="1"/>
              <a:t>Tree</a:t>
            </a:r>
            <a:r>
              <a:rPr lang="tr-TR" dirty="0"/>
              <a:t> varyasyonlarını kullanırlar.</a:t>
            </a:r>
          </a:p>
        </p:txBody>
      </p:sp>
    </p:spTree>
    <p:extLst>
      <p:ext uri="{BB962C8B-B14F-4D97-AF65-F5344CB8AC3E}">
        <p14:creationId xmlns:p14="http://schemas.microsoft.com/office/powerpoint/2010/main" val="2592663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Neden Modern Sistemlerde Tercih Edilmektedir?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tr-TR" dirty="0"/>
              <a:t>Modern sistemlerin en büyük </a:t>
            </a:r>
            <a:r>
              <a:rPr lang="tr-TR" dirty="0" smtClean="0"/>
              <a:t>darboğazı </a:t>
            </a:r>
            <a:r>
              <a:rPr lang="tr-TR" dirty="0"/>
              <a:t>işlemci hızları değil, </a:t>
            </a:r>
            <a:r>
              <a:rPr lang="tr-TR" b="1" dirty="0"/>
              <a:t>diskten veri okuma </a:t>
            </a:r>
            <a:r>
              <a:rPr lang="tr-TR" b="1" dirty="0" smtClean="0"/>
              <a:t> </a:t>
            </a:r>
            <a:r>
              <a:rPr lang="tr-TR" b="1" dirty="0"/>
              <a:t>süreleridir</a:t>
            </a:r>
            <a:r>
              <a:rPr lang="tr-TR" dirty="0"/>
              <a:t>. B ve B+ Ağaçları:</a:t>
            </a:r>
          </a:p>
          <a:p>
            <a:r>
              <a:rPr lang="tr-TR" b="1" dirty="0"/>
              <a:t>Sığ Ağaç Yapısı (Düşük Yükseklik):</a:t>
            </a:r>
            <a:r>
              <a:rPr lang="tr-TR" dirty="0"/>
              <a:t> Milyonlarca veri barındırsalar bile ağacın yüksekliği genellikle 3 veya 4 katı geçmez. Bu, aranan bir veriye ulaşmak için diske sadece 3-4 kez dokunulacağı anlamına gelir.</a:t>
            </a:r>
          </a:p>
          <a:p>
            <a:r>
              <a:rPr lang="tr-TR" b="1" dirty="0"/>
              <a:t>Blok Okuma Uyumu:</a:t>
            </a:r>
            <a:r>
              <a:rPr lang="tr-TR" dirty="0"/>
              <a:t> Diskler veriyi </a:t>
            </a:r>
            <a:r>
              <a:rPr lang="tr-TR" dirty="0" err="1"/>
              <a:t>byte</a:t>
            </a:r>
            <a:r>
              <a:rPr lang="tr-TR" dirty="0"/>
              <a:t> </a:t>
            </a:r>
            <a:r>
              <a:rPr lang="tr-TR" dirty="0" err="1"/>
              <a:t>byte</a:t>
            </a:r>
            <a:r>
              <a:rPr lang="tr-TR" dirty="0"/>
              <a:t> değil, bloklar (örneğin 4KB, 8KB) halinde okur. B/B+ Ağaçlarının düğüm boyutları disk blok boyutuyla eşlenir; böylece tek bir disk okumasında onlarca anahtar birden hafızaya alınır.</a:t>
            </a:r>
          </a:p>
          <a:p>
            <a:r>
              <a:rPr lang="tr-TR" b="1" dirty="0"/>
              <a:t>Aralık Sorgusu Başarısı (B+ </a:t>
            </a:r>
            <a:r>
              <a:rPr lang="tr-TR" b="1" dirty="0" err="1"/>
              <a:t>Tree</a:t>
            </a:r>
            <a:r>
              <a:rPr lang="tr-TR" b="1" dirty="0"/>
              <a:t> özelinde):</a:t>
            </a:r>
            <a:r>
              <a:rPr lang="tr-TR" dirty="0"/>
              <a:t> B+ </a:t>
            </a:r>
            <a:r>
              <a:rPr lang="tr-TR" dirty="0" err="1"/>
              <a:t>Tree'de</a:t>
            </a:r>
            <a:r>
              <a:rPr lang="tr-TR" dirty="0"/>
              <a:t> tüm yaprak düğümler birbirine çift yönlü bağlı bir liste (</a:t>
            </a:r>
            <a:r>
              <a:rPr lang="tr-TR" dirty="0" err="1"/>
              <a:t>Linked</a:t>
            </a:r>
            <a:r>
              <a:rPr lang="tr-TR" dirty="0"/>
              <a:t> </a:t>
            </a:r>
            <a:r>
              <a:rPr lang="tr-TR" dirty="0" err="1"/>
              <a:t>List</a:t>
            </a:r>
            <a:r>
              <a:rPr lang="tr-TR" dirty="0"/>
              <a:t>) ile bağlıdır. "</a:t>
            </a:r>
            <a:r>
              <a:rPr lang="tr-TR" dirty="0" err="1"/>
              <a:t>ID'si</a:t>
            </a:r>
            <a:r>
              <a:rPr lang="tr-TR" dirty="0"/>
              <a:t> 100 ile 500 arasındaki tüm kullanıcıları getir" dediğinizde, ağaçta 100'ü bulduktan sonra sağa doğru dümdüz ilerleyerek 500'e kadar olan verileri tek seferde toplarsınız.</a:t>
            </a:r>
          </a:p>
        </p:txBody>
      </p:sp>
    </p:spTree>
    <p:extLst>
      <p:ext uri="{BB962C8B-B14F-4D97-AF65-F5344CB8AC3E}">
        <p14:creationId xmlns:p14="http://schemas.microsoft.com/office/powerpoint/2010/main" val="85357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Günlük Hayattan Bir Benzetme: Hastane Arşiv Sistemi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tr-TR" b="1" dirty="0"/>
              <a:t>B-</a:t>
            </a:r>
            <a:r>
              <a:rPr lang="tr-TR" b="1" dirty="0" err="1"/>
              <a:t>Tree</a:t>
            </a:r>
            <a:r>
              <a:rPr lang="tr-TR" b="1" dirty="0"/>
              <a:t> Modeli (Veri Her Yere Dağılmış)</a:t>
            </a:r>
          </a:p>
          <a:p>
            <a:r>
              <a:rPr lang="tr-TR" b="1" dirty="0"/>
              <a:t>Sistem:</a:t>
            </a:r>
            <a:r>
              <a:rPr lang="tr-TR" dirty="0"/>
              <a:t> Yukarıdaki dolaplarda hem yönlendirme tabelaları hem de bazı hastaların gerçek dosyaları karışık durur.</a:t>
            </a:r>
          </a:p>
          <a:p>
            <a:r>
              <a:rPr lang="tr-TR" b="1" dirty="0"/>
              <a:t>Sorun:</a:t>
            </a:r>
            <a:r>
              <a:rPr lang="tr-TR" dirty="0"/>
              <a:t> Doktor sizden </a:t>
            </a:r>
            <a:r>
              <a:rPr lang="tr-TR" i="1" dirty="0"/>
              <a:t>"Soyadı D ile M arasındaki tüm hastaları getir"</a:t>
            </a:r>
            <a:r>
              <a:rPr lang="tr-TR" dirty="0"/>
              <a:t> (aralık sorgusu) dediğinde, arşivde sürekli aşağı-yukarı merdiven tırmanmak, her dolabın içine tek tek bakıp çıkmak zorunda kalırsınız.</a:t>
            </a:r>
          </a:p>
          <a:p>
            <a:pPr marL="0" indent="0">
              <a:buNone/>
            </a:pPr>
            <a:r>
              <a:rPr lang="tr-TR" b="1" dirty="0"/>
              <a:t>B+ </a:t>
            </a:r>
            <a:r>
              <a:rPr lang="tr-TR" b="1" dirty="0" err="1"/>
              <a:t>Tree</a:t>
            </a:r>
            <a:r>
              <a:rPr lang="tr-TR" b="1" dirty="0"/>
              <a:t> Modeli (Yönlendirmeler Üste, Tüm Veriler En Altta)</a:t>
            </a:r>
          </a:p>
          <a:p>
            <a:r>
              <a:rPr lang="tr-TR" b="1" dirty="0"/>
              <a:t>Sistem:</a:t>
            </a:r>
            <a:r>
              <a:rPr lang="tr-TR" dirty="0"/>
              <a:t> Yukarıdaki dolaplarda </a:t>
            </a:r>
            <a:r>
              <a:rPr lang="tr-TR" b="1" dirty="0"/>
              <a:t>asla gerçek dosya bulunmaz</a:t>
            </a:r>
            <a:r>
              <a:rPr lang="tr-TR" dirty="0"/>
              <a:t>, sadece hafif indeks kartları (tabelalar) vardır. Tüm gerçek dosyalar en alt rafta, A'dan Z'ye yan yana dizilmiştir ve her klasör bir sonrakine bağlıdır.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837128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Somut Faydası Nedir?</a:t>
            </a:r>
            <a:endParaRPr lang="tr-TR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963217" y="1781670"/>
            <a:ext cx="954139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Nokta Atışı Arama:</a:t>
            </a:r>
            <a:r>
              <a:rPr kumimoji="0" lang="tr-TR" altLang="tr-T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Üstteki hafif tabelaları hızla takip ederek aradığınız tek bir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tr-TR" altLang="tr-T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hastayı en alt rafta saniyeler içinde bulursunuz.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Mükemmel Aralık Sorgusu:</a:t>
            </a:r>
            <a:r>
              <a:rPr kumimoji="0" lang="tr-TR" altLang="tr-T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Doktor </a:t>
            </a:r>
            <a:r>
              <a:rPr kumimoji="0" lang="tr-TR" altLang="tr-TR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"D ile M arasındaki tüm hastaları getir"</a:t>
            </a:r>
            <a:r>
              <a:rPr kumimoji="0" lang="tr-TR" altLang="tr-T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dediğinde,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tr-TR" altLang="tr-T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tabelalardan sadece "D" harfinin olduğu rafa inersiniz. Sonra </a:t>
            </a:r>
            <a:r>
              <a:rPr kumimoji="0" lang="tr-TR" altLang="tr-TR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yukarıya bir daha hiç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tr-TR" altLang="tr-TR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bakmadan</a:t>
            </a:r>
            <a:r>
              <a:rPr kumimoji="0" lang="tr-TR" altLang="tr-T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rafta sağa doğru dümdüz ilerleyerek M'ye kadar olan tüm klasörleri tek seferde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tr-TR" altLang="tr-T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toplarsınız (diski tek hat üzerinden doğrusal okumak).</a:t>
            </a:r>
          </a:p>
        </p:txBody>
      </p:sp>
    </p:spTree>
    <p:extLst>
      <p:ext uri="{BB962C8B-B14F-4D97-AF65-F5344CB8AC3E}">
        <p14:creationId xmlns:p14="http://schemas.microsoft.com/office/powerpoint/2010/main" val="3118839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Bu Veri Yapıları Neden Önemlidir?</a:t>
            </a:r>
            <a:endParaRPr lang="tr-TR" dirty="0"/>
          </a:p>
        </p:txBody>
      </p:sp>
      <p:sp>
        <p:nvSpPr>
          <p:cNvPr id="7" name="Rectangle 4"/>
          <p:cNvSpPr>
            <a:spLocks noGrp="1" noChangeArrowheads="1"/>
          </p:cNvSpPr>
          <p:nvPr>
            <p:ph idx="1"/>
          </p:nvPr>
        </p:nvSpPr>
        <p:spPr bwMode="auto">
          <a:xfrm>
            <a:off x="874478" y="1753142"/>
            <a:ext cx="11317522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Bilgisayar mimarisinde en yavaş halka her zaman depolama birimidir.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İşlemci (CPU) </a:t>
            </a: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nanosaniyelerle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çalışırken, diskten veri okumak milisaniyeler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sürer. B ve B+ ağaçları, veri miktarı geometrik olarak artsa bile arama süresini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logaritmik (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$O(\</a:t>
            </a: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log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n)$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 seviyede tutarak bu devasa hız uçurumunu kapatır.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Onlar olmasaydı, bugün Google'da arama yaptığımızda veya bir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uygulamada kaydırma (</a:t>
            </a: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scroll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 yaptığımızda sayfalarca verinin yüklenmesini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dakikalarca bekliyor olurduk.</a:t>
            </a:r>
            <a:endParaRPr kumimoji="0" lang="tr-TR" altLang="tr-TR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5820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Büyük Veri Çağında Neden İhtiyaç Duyulmaktadır?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tr-TR" sz="2400" dirty="0"/>
              <a:t>Büyük veri (</a:t>
            </a:r>
            <a:r>
              <a:rPr lang="tr-TR" sz="2400" dirty="0" err="1"/>
              <a:t>Big</a:t>
            </a:r>
            <a:r>
              <a:rPr lang="tr-TR" sz="2400" dirty="0"/>
              <a:t> Data) çağında veri artık tek bir bilgisayara sığmıyor; terabaytlarca, </a:t>
            </a:r>
            <a:r>
              <a:rPr lang="tr-TR" sz="2400" dirty="0" err="1"/>
              <a:t>petabaytlarca</a:t>
            </a:r>
            <a:r>
              <a:rPr lang="tr-TR" sz="2400" dirty="0"/>
              <a:t> veriden bahsediyoruz. Veri büyüdükçe, bellekte (RAM) her şeyi tutmak imkansız hale gelir. B+ </a:t>
            </a:r>
            <a:r>
              <a:rPr lang="tr-TR" sz="2400" dirty="0" err="1"/>
              <a:t>Tree</a:t>
            </a:r>
            <a:r>
              <a:rPr lang="tr-TR" sz="2400" dirty="0"/>
              <a:t>, verinin büyüklüğünden bağımsız olarak, RAM ile disk arasındaki veri transferini "bloklar halinde" optimize ettiği için büyük veri ekosistemindeki dağıtık dosya sistemlerinin ve veri tabanlarının kalbini oluşturmaya devam ediyor.</a:t>
            </a:r>
          </a:p>
        </p:txBody>
      </p:sp>
    </p:spTree>
    <p:extLst>
      <p:ext uri="{BB962C8B-B14F-4D97-AF65-F5344CB8AC3E}">
        <p14:creationId xmlns:p14="http://schemas.microsoft.com/office/powerpoint/2010/main" val="3032305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/>
              <a:t>Gelecekte Kullanılmaya Devam Edilecek mi?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Evet, kesinlikle kullanılmaya devam edecek; ancak yeni donanımlara göre </a:t>
            </a:r>
            <a:r>
              <a:rPr lang="tr-TR" dirty="0" err="1"/>
              <a:t>evrilerek</a:t>
            </a:r>
            <a:r>
              <a:rPr lang="tr-TR" dirty="0" smtClean="0"/>
              <a:t>.</a:t>
            </a:r>
          </a:p>
          <a:p>
            <a:r>
              <a:rPr lang="tr-TR" dirty="0"/>
              <a:t>B+ </a:t>
            </a:r>
            <a:r>
              <a:rPr lang="tr-TR" dirty="0" err="1"/>
              <a:t>Tree</a:t>
            </a:r>
            <a:r>
              <a:rPr lang="tr-TR" dirty="0"/>
              <a:t> yapıları mekanik disklerin (HDD) dönme ve kafa hareketlerine göre optimize edilmişti. Günümüzde SSD ve </a:t>
            </a:r>
            <a:r>
              <a:rPr lang="tr-TR" dirty="0" err="1"/>
              <a:t>NVMe</a:t>
            </a:r>
            <a:r>
              <a:rPr lang="tr-TR" dirty="0"/>
              <a:t> (Flash bellek) teknolojileri, gelecekte ise tamamen kalıcı </a:t>
            </a:r>
            <a:r>
              <a:rPr lang="tr-TR" dirty="0" err="1"/>
              <a:t>RAM'ler</a:t>
            </a:r>
            <a:r>
              <a:rPr lang="tr-TR" dirty="0"/>
              <a:t> (</a:t>
            </a:r>
            <a:r>
              <a:rPr lang="tr-TR" dirty="0" err="1"/>
              <a:t>Persistent</a:t>
            </a:r>
            <a:r>
              <a:rPr lang="tr-TR" dirty="0"/>
              <a:t> Memory) ana akım olacak. Donanımın doğası değiştikçe B+ </a:t>
            </a:r>
            <a:r>
              <a:rPr lang="tr-TR" dirty="0" err="1"/>
              <a:t>Tree</a:t>
            </a:r>
            <a:r>
              <a:rPr lang="tr-TR" dirty="0"/>
              <a:t> yerini tamamen terk etmiyor; aksine </a:t>
            </a:r>
            <a:r>
              <a:rPr lang="tr-TR" b="1" dirty="0"/>
              <a:t>"</a:t>
            </a:r>
            <a:r>
              <a:rPr lang="tr-TR" b="1" dirty="0" err="1"/>
              <a:t>Fractal</a:t>
            </a:r>
            <a:r>
              <a:rPr lang="tr-TR" b="1" dirty="0"/>
              <a:t> </a:t>
            </a:r>
            <a:r>
              <a:rPr lang="tr-TR" b="1" dirty="0" err="1"/>
              <a:t>Tree</a:t>
            </a:r>
            <a:r>
              <a:rPr lang="tr-TR" b="1" dirty="0"/>
              <a:t>"</a:t>
            </a:r>
            <a:r>
              <a:rPr lang="tr-TR" dirty="0"/>
              <a:t>, </a:t>
            </a:r>
            <a:r>
              <a:rPr lang="tr-TR" b="1" dirty="0"/>
              <a:t>"LSM-</a:t>
            </a:r>
            <a:r>
              <a:rPr lang="tr-TR" b="1" dirty="0" err="1"/>
              <a:t>Tree</a:t>
            </a:r>
            <a:r>
              <a:rPr lang="tr-TR" b="1" dirty="0"/>
              <a:t>"</a:t>
            </a:r>
            <a:r>
              <a:rPr lang="tr-TR" dirty="0"/>
              <a:t> veya yapay zeka destekli </a:t>
            </a:r>
            <a:r>
              <a:rPr lang="tr-TR" b="1" dirty="0"/>
              <a:t>"</a:t>
            </a:r>
            <a:r>
              <a:rPr lang="tr-TR" b="1" dirty="0" err="1"/>
              <a:t>Learned</a:t>
            </a:r>
            <a:r>
              <a:rPr lang="tr-TR" b="1" dirty="0"/>
              <a:t> Index </a:t>
            </a:r>
            <a:r>
              <a:rPr lang="tr-TR" b="1" dirty="0" err="1"/>
              <a:t>Structures</a:t>
            </a:r>
            <a:r>
              <a:rPr lang="tr-TR" b="1" dirty="0"/>
              <a:t>"</a:t>
            </a:r>
            <a:r>
              <a:rPr lang="tr-TR" dirty="0"/>
              <a:t> (AI tabanlı indeksleme) gibi modern türevlerine bırakıyor. Temeldeki "sıralı veri ve logaritmik erişim" felsefesi, bilgisayar mimarisi kökten değişmediği sürece geçerliliğini koruyacaktır.</a:t>
            </a:r>
          </a:p>
        </p:txBody>
      </p:sp>
    </p:spTree>
    <p:extLst>
      <p:ext uri="{BB962C8B-B14F-4D97-AF65-F5344CB8AC3E}">
        <p14:creationId xmlns:p14="http://schemas.microsoft.com/office/powerpoint/2010/main" val="1595486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>
          <a:xfrm>
            <a:off x="7283116" y="3999845"/>
            <a:ext cx="3932737" cy="1468800"/>
          </a:xfrm>
        </p:spPr>
        <p:txBody>
          <a:bodyPr>
            <a:normAutofit/>
          </a:bodyPr>
          <a:lstStyle/>
          <a:p>
            <a:r>
              <a:rPr lang="tr-TR" dirty="0" smtClean="0"/>
              <a:t>Dinlediğiniz İçin Teşekkürler…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5296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uman">
  <a:themeElements>
    <a:clrScheme name="Duman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Duma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uma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33</TotalTime>
  <Words>955</Words>
  <Application>Microsoft Office PowerPoint</Application>
  <PresentationFormat>Geniş ekran</PresentationFormat>
  <Paragraphs>48</Paragraphs>
  <Slides>12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12</vt:i4>
      </vt:variant>
    </vt:vector>
  </HeadingPairs>
  <TitlesOfParts>
    <vt:vector size="17" baseType="lpstr">
      <vt:lpstr>Arial</vt:lpstr>
      <vt:lpstr>Century Gothic</vt:lpstr>
      <vt:lpstr>Google Sans Text</vt:lpstr>
      <vt:lpstr>Wingdings 3</vt:lpstr>
      <vt:lpstr>Duman</vt:lpstr>
      <vt:lpstr>B ve B+ AĞAÇLARI</vt:lpstr>
      <vt:lpstr>GÜNÜMÜZDE KULLANIM ALANLARI</vt:lpstr>
      <vt:lpstr>Veri Tabanlarında Kullanımı</vt:lpstr>
      <vt:lpstr>Dosya Sistemlerinde Kullanımı</vt:lpstr>
      <vt:lpstr>Arama Motorları ve Büyük Veri Sistemleri</vt:lpstr>
      <vt:lpstr>Neden Modern Sistemlerde Tercih Edilmektedir?</vt:lpstr>
      <vt:lpstr>Günlük Hayattan Bir Benzetme: Hastane Arşiv Sistemi</vt:lpstr>
      <vt:lpstr>Somut Faydası Nedir?</vt:lpstr>
      <vt:lpstr>Bu Veri Yapıları Neden Önemlidir?</vt:lpstr>
      <vt:lpstr>Büyük Veri Çağında Neden İhtiyaç Duyulmaktadır?</vt:lpstr>
      <vt:lpstr>Gelecekte Kullanılmaya Devam Edilecek mi?</vt:lpstr>
      <vt:lpstr>Dinlediğiniz İçin Teşekkürler…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 ve B+ AĞAÇLARI</dc:title>
  <dc:creator>user</dc:creator>
  <cp:lastModifiedBy>user</cp:lastModifiedBy>
  <cp:revision>4</cp:revision>
  <dcterms:created xsi:type="dcterms:W3CDTF">2026-05-19T18:43:46Z</dcterms:created>
  <dcterms:modified xsi:type="dcterms:W3CDTF">2026-05-19T19:17:33Z</dcterms:modified>
</cp:coreProperties>
</file>